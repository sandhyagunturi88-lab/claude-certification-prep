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D24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371600"/>
            <a:ext cx="7498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E9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CCAO-F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51460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Pre-Exam Recap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4290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BE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Certified Associate - Foundations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9776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E9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domains. One reference. Read it the night before.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5029200"/>
            <a:ext cx="502920" cy="502920"/>
          </a:xfrm>
          <a:prstGeom prst="ellipse">
            <a:avLst/>
          </a:prstGeom>
          <a:solidFill>
            <a:srgbClr val="EE9D4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5029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2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325880" y="5029200"/>
            <a:ext cx="502920" cy="502920"/>
          </a:xfrm>
          <a:prstGeom prst="ellipse">
            <a:avLst/>
          </a:prstGeom>
          <a:solidFill>
            <a:srgbClr val="212A3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325880" y="5029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6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011680" y="5029200"/>
            <a:ext cx="502920" cy="502920"/>
          </a:xfrm>
          <a:prstGeom prst="ellipse">
            <a:avLst/>
          </a:prstGeom>
          <a:solidFill>
            <a:srgbClr val="212A3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011680" y="5029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6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697480" y="5029200"/>
            <a:ext cx="502920" cy="502920"/>
          </a:xfrm>
          <a:prstGeom prst="ellipse">
            <a:avLst/>
          </a:prstGeom>
          <a:solidFill>
            <a:srgbClr val="212A3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697480" y="5029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6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383280" y="5029200"/>
            <a:ext cx="502920" cy="502920"/>
          </a:xfrm>
          <a:prstGeom prst="ellipse">
            <a:avLst/>
          </a:prstGeom>
          <a:solidFill>
            <a:srgbClr val="212A3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383280" y="5029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6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069080" y="5029200"/>
            <a:ext cx="502920" cy="502920"/>
          </a:xfrm>
          <a:prstGeom prst="ellipse">
            <a:avLst/>
          </a:prstGeom>
          <a:solidFill>
            <a:srgbClr val="212A3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069080" y="5029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6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754880" y="5029200"/>
            <a:ext cx="502920" cy="502920"/>
          </a:xfrm>
          <a:prstGeom prst="ellipse">
            <a:avLst/>
          </a:prstGeom>
          <a:solidFill>
            <a:srgbClr val="212A3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754880" y="5029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6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0" y="60350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CorporateChittyChat  •  CCAO-F Exam Prep series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630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exam at a glance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40080" y="132588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F4EFE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46304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C97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28600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63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493008" y="132588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F4EFE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493008" y="146304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C97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3630168" y="228600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63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questions, MCQ and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63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response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45936" y="132588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F4EFE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45936" y="146304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C97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720+</a:t>
            </a:r>
            <a:endParaRPr lang="en-US" sz="5400" dirty="0"/>
          </a:p>
        </p:txBody>
      </p:sp>
      <p:sp>
        <p:nvSpPr>
          <p:cNvPr id="11" name="Text 9"/>
          <p:cNvSpPr txBox="1"/>
          <p:nvPr/>
        </p:nvSpPr>
        <p:spPr>
          <a:xfrm>
            <a:off x="6483096" y="228600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63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passing score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63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(100 to 1,000 scale)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198864" y="132588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F4EFE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98864" y="146304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C97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5400" dirty="0"/>
          </a:p>
        </p:txBody>
      </p:sp>
      <p:sp>
        <p:nvSpPr>
          <p:cNvPr id="14" name="Text 12"/>
          <p:cNvSpPr txBox="1"/>
          <p:nvPr/>
        </p:nvSpPr>
        <p:spPr>
          <a:xfrm>
            <a:off x="9336024" y="228600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63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validity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34290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7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it is for.  </a:t>
            </a:r>
            <a:pPr indent="0" marL="0">
              <a:buNone/>
            </a:pPr>
            <a:r>
              <a:rPr lang="en-US" sz="1600" dirty="0">
                <a:solidFill>
                  <a:srgbClr val="263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users of Claude: project managers, business analysts, delivery leads. No coding required.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39776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7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really tests.  </a:t>
            </a:r>
            <a:pPr indent="0" marL="0">
              <a:buNone/>
            </a:pPr>
            <a:r>
              <a:rPr lang="en-US" sz="1600" dirty="0">
                <a:solidFill>
                  <a:srgbClr val="263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Judgment, not memorization. Every question is a workplace scenario with four options, and usually two of them look right. The skill being measured is choosing the defensible one.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40080" y="5029200"/>
            <a:ext cx="10972800" cy="914400"/>
          </a:xfrm>
          <a:prstGeom prst="roundRect">
            <a:avLst>
              <a:gd name="adj" fmla="val 10000"/>
            </a:avLst>
          </a:prstGeom>
          <a:solidFill>
            <a:srgbClr val="1D242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14400" y="5138928"/>
            <a:ext cx="10424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is proctored, online or at a test center.  </a:t>
            </a:r>
            <a:pPr indent="0" marL="0">
              <a:buNone/>
            </a:pPr>
            <a:r>
              <a:rPr lang="en-US" sz="1400" dirty="0">
                <a:solidFill>
                  <a:srgbClr val="FBE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details are as of this deck's date - always verify the current exam guide on Anthropic's official certification page before your sitting.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630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blueprint - where the marks are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40080" y="1325880"/>
            <a:ext cx="475488" cy="475488"/>
          </a:xfrm>
          <a:prstGeom prst="ellipse">
            <a:avLst/>
          </a:prstGeom>
          <a:solidFill>
            <a:srgbClr val="212A3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3258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325880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3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Prompting and Task Execution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537960" y="1426464"/>
            <a:ext cx="2804160" cy="274320"/>
          </a:xfrm>
          <a:prstGeom prst="roundRect">
            <a:avLst>
              <a:gd name="adj" fmla="val 16667"/>
            </a:avLst>
          </a:prstGeom>
          <a:solidFill>
            <a:srgbClr val="D9CDB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927080" y="1325880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7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039112"/>
            <a:ext cx="475488" cy="475488"/>
          </a:xfrm>
          <a:prstGeom prst="ellipse">
            <a:avLst/>
          </a:prstGeom>
          <a:solidFill>
            <a:srgbClr val="EE9D4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0391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D2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0391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3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Evaluation and Validation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537960" y="2139696"/>
            <a:ext cx="4206240" cy="274320"/>
          </a:xfrm>
          <a:prstGeom prst="roundRect">
            <a:avLst>
              <a:gd name="adj" fmla="val 16667"/>
            </a:avLst>
          </a:prstGeom>
          <a:solidFill>
            <a:srgbClr val="EE9D4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927080" y="203911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7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21%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2752344"/>
            <a:ext cx="475488" cy="475488"/>
          </a:xfrm>
          <a:prstGeom prst="ellipse">
            <a:avLst/>
          </a:prstGeom>
          <a:solidFill>
            <a:srgbClr val="212A3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27523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2752344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3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and Model Selection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537960" y="2852928"/>
            <a:ext cx="2403566" cy="274320"/>
          </a:xfrm>
          <a:prstGeom prst="roundRect">
            <a:avLst>
              <a:gd name="adj" fmla="val 16667"/>
            </a:avLst>
          </a:prstGeom>
          <a:solidFill>
            <a:srgbClr val="D9CDB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0927080" y="275234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7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0080" y="3465576"/>
            <a:ext cx="475488" cy="475488"/>
          </a:xfrm>
          <a:prstGeom prst="ellipse">
            <a:avLst/>
          </a:prstGeom>
          <a:solidFill>
            <a:srgbClr val="EE9D4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0080" y="34655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D2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280160" y="3465576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3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Integration and Solution Design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537960" y="3566160"/>
            <a:ext cx="3204754" cy="274320"/>
          </a:xfrm>
          <a:prstGeom prst="roundRect">
            <a:avLst>
              <a:gd name="adj" fmla="val 16667"/>
            </a:avLst>
          </a:prstGeom>
          <a:solidFill>
            <a:srgbClr val="EE9D4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0927080" y="3465576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7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16%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40080" y="4178808"/>
            <a:ext cx="475488" cy="475488"/>
          </a:xfrm>
          <a:prstGeom prst="ellipse">
            <a:avLst/>
          </a:prstGeom>
          <a:solidFill>
            <a:srgbClr val="212A38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40080" y="41788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1280160" y="4178808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3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and Knowledge Management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537960" y="4279392"/>
            <a:ext cx="2403566" cy="274320"/>
          </a:xfrm>
          <a:prstGeom prst="roundRect">
            <a:avLst>
              <a:gd name="adj" fmla="val 16667"/>
            </a:avLst>
          </a:prstGeom>
          <a:solidFill>
            <a:srgbClr val="D9CDBB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10927080" y="4178808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7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40080" y="4892040"/>
            <a:ext cx="475488" cy="475488"/>
          </a:xfrm>
          <a:prstGeom prst="ellipse">
            <a:avLst/>
          </a:prstGeom>
          <a:solidFill>
            <a:srgbClr val="EE9D44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40080" y="48920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D2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1280160" y="4892040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3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Governance, Risk, and Responsible Use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6537960" y="4992624"/>
            <a:ext cx="3004457" cy="274320"/>
          </a:xfrm>
          <a:prstGeom prst="roundRect">
            <a:avLst>
              <a:gd name="adj" fmla="val 16667"/>
            </a:avLst>
          </a:prstGeom>
          <a:solidFill>
            <a:srgbClr val="EE9D44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10927080" y="4892040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7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640080" y="5605272"/>
            <a:ext cx="475488" cy="475488"/>
          </a:xfrm>
          <a:prstGeom prst="ellipse">
            <a:avLst/>
          </a:prstGeom>
          <a:solidFill>
            <a:srgbClr val="212A38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40080" y="56052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1280160" y="560527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3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Troubleshooting and Optimization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6537960" y="5705856"/>
            <a:ext cx="2002971" cy="274320"/>
          </a:xfrm>
          <a:prstGeom prst="roundRect">
            <a:avLst>
              <a:gd name="adj" fmla="val 16667"/>
            </a:avLst>
          </a:prstGeom>
          <a:solidFill>
            <a:srgbClr val="D9CDBB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10927080" y="560527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7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640080" y="64008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 rows carry more than a third of the exam between them. If time is short tonight, reread Domains 2, 4, and 6.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685800" cy="685800"/>
          </a:xfrm>
          <a:prstGeom prst="ellipse">
            <a:avLst/>
          </a:prstGeom>
          <a:solidFill>
            <a:srgbClr val="EE9D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D2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45720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0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Prompting and Task Execution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0607040" y="566928"/>
            <a:ext cx="960120" cy="457200"/>
          </a:xfrm>
          <a:prstGeom prst="roundRect">
            <a:avLst>
              <a:gd name="adj" fmla="val 20000"/>
            </a:avLst>
          </a:prstGeom>
          <a:solidFill>
            <a:srgbClr val="1D242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607040" y="566928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E9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4630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7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MOVES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1874520"/>
            <a:ext cx="365760" cy="365760"/>
          </a:xfrm>
          <a:prstGeom prst="ellipse">
            <a:avLst/>
          </a:prstGeom>
          <a:solidFill>
            <a:srgbClr val="212A3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1801368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3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it clearly.  </a:t>
            </a:r>
            <a:pPr indent="0" marL="0">
              <a:buNone/>
            </a:pPr>
            <a:r>
              <a:rPr lang="en-US" sz="1250" dirty="0">
                <a:solidFill>
                  <a:srgbClr val="263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Clear, explicit, specific. Name the role, context, audience, format, and what to skip.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2715768"/>
            <a:ext cx="365760" cy="365760"/>
          </a:xfrm>
          <a:prstGeom prst="ellipse">
            <a:avLst/>
          </a:prstGeom>
          <a:solidFill>
            <a:srgbClr val="212A3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2715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2642616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3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it.  </a:t>
            </a:r>
            <a:pPr indent="0" marL="0">
              <a:buNone/>
            </a:pPr>
            <a:r>
              <a:rPr lang="en-US" sz="1250" dirty="0">
                <a:solidFill>
                  <a:srgbClr val="263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Fence instructions, context, and input with tags. Number ordered steps. Long document at the top, question at the end.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557016"/>
            <a:ext cx="365760" cy="365760"/>
          </a:xfrm>
          <a:prstGeom prst="ellipse">
            <a:avLst/>
          </a:prstGeom>
          <a:solidFill>
            <a:srgbClr val="212A3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" y="35570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3483864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3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and iterate.  </a:t>
            </a:r>
            <a:pPr indent="0" marL="0">
              <a:buNone/>
            </a:pPr>
            <a:r>
              <a:rPr lang="en-US" sz="1250" dirty="0">
                <a:solidFill>
                  <a:srgbClr val="263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big jobs so one output feeds the next. Draft, review, refine. Test against written criteria, not feel.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4398264"/>
            <a:ext cx="365760" cy="365760"/>
          </a:xfrm>
          <a:prstGeom prst="ellipse">
            <a:avLst/>
          </a:prstGeom>
          <a:solidFill>
            <a:srgbClr val="212A3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0080" y="43982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" y="4325112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3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task.  </a:t>
            </a:r>
            <a:pPr indent="0" marL="0">
              <a:buNone/>
            </a:pPr>
            <a:r>
              <a:rPr lang="en-US" sz="1250" dirty="0">
                <a:solidFill>
                  <a:srgbClr val="263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wants cross-checking. Deep analysis wants thinking room. Formatting wants three to five varied examples.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126480" y="1463040"/>
            <a:ext cx="5486400" cy="3566160"/>
          </a:xfrm>
          <a:prstGeom prst="roundRect">
            <a:avLst>
              <a:gd name="adj" fmla="val 3077"/>
            </a:avLst>
          </a:prstGeom>
          <a:solidFill>
            <a:srgbClr val="F4EFE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0" y="16459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7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0" y="2011680"/>
            <a:ext cx="4983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3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colleague test: if a colleague with no context is confused by your prompt, Claude is too.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3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Phrase rules as do, not do not - and show the wanted shape instead of banning the unwanted one.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3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every failure is a prompt problem. Good but slow or costly means a different model, not rewrite six.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3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Formatting inconsistency is fixed with examples, not with more instructions.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0080" y="5349240"/>
            <a:ext cx="10972800" cy="1051560"/>
          </a:xfrm>
          <a:prstGeom prst="roundRect">
            <a:avLst>
              <a:gd name="adj" fmla="val 10435"/>
            </a:avLst>
          </a:prstGeom>
          <a:solidFill>
            <a:srgbClr val="1D242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14400" y="548640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E9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TRAP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2560320" y="548640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 that adds a negative instruction ("do not change the structure") without ever showing the wanted structure. It feels like an instruction. It is a hope.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685800" cy="685800"/>
          </a:xfrm>
          <a:prstGeom prst="ellipse">
            <a:avLst/>
          </a:prstGeom>
          <a:solidFill>
            <a:srgbClr val="EE9D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D2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45720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0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Evaluation - Part A: can you trust it?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0607040" y="566928"/>
            <a:ext cx="960120" cy="457200"/>
          </a:xfrm>
          <a:prstGeom prst="roundRect">
            <a:avLst>
              <a:gd name="adj" fmla="val 20000"/>
            </a:avLst>
          </a:prstGeom>
          <a:solidFill>
            <a:srgbClr val="1D242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607040" y="566928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E9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21%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4630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7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MOVES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1874520"/>
            <a:ext cx="365760" cy="365760"/>
          </a:xfrm>
          <a:prstGeom prst="ellipse">
            <a:avLst/>
          </a:prstGeom>
          <a:solidFill>
            <a:srgbClr val="212A3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1801368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3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it.  </a:t>
            </a:r>
            <a:pPr indent="0" marL="0">
              <a:buNone/>
            </a:pPr>
            <a:r>
              <a:rPr lang="en-US" sz="1250" dirty="0">
                <a:solidFill>
                  <a:srgbClr val="263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against your checklist - faithful to source, complete, consistent, right tone - written before you read the output.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2715768"/>
            <a:ext cx="365760" cy="365760"/>
          </a:xfrm>
          <a:prstGeom prst="ellipse">
            <a:avLst/>
          </a:prstGeom>
          <a:solidFill>
            <a:srgbClr val="212A3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2715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2642616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3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the four tells.  </a:t>
            </a:r>
            <a:pPr indent="0" marL="0">
              <a:buNone/>
            </a:pPr>
            <a:r>
              <a:rPr lang="en-US" sz="1250" dirty="0">
                <a:solidFill>
                  <a:srgbClr val="263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citation that leads nowhere. A precise number with no source. An answer that contradicts itself. Confidence with nothing behind it.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557016"/>
            <a:ext cx="365760" cy="365760"/>
          </a:xfrm>
          <a:prstGeom prst="ellipse">
            <a:avLst/>
          </a:prstGeom>
          <a:solidFill>
            <a:srgbClr val="212A3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" y="35570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3483864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3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it provable.  </a:t>
            </a:r>
            <a:pPr indent="0" marL="0">
              <a:buNone/>
            </a:pPr>
            <a:r>
              <a:rPr lang="en-US" sz="1250" dirty="0">
                <a:solidFill>
                  <a:srgbClr val="263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"I don't know" (the single most effective line). Ask for quotes first. Require a citation per claim - withdraw what can't be cited.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4398264"/>
            <a:ext cx="365760" cy="365760"/>
          </a:xfrm>
          <a:prstGeom prst="ellipse">
            <a:avLst/>
          </a:prstGeom>
          <a:solidFill>
            <a:srgbClr val="212A3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0080" y="43982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" y="4325112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3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on contact.  </a:t>
            </a:r>
            <a:pPr indent="0" marL="0">
              <a:buNone/>
            </a:pPr>
            <a:r>
              <a:rPr lang="en-US" sz="1250" dirty="0">
                <a:solidFill>
                  <a:srgbClr val="263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real error found means others are likely. Finding it starts the audit, not ends it.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126480" y="1463040"/>
            <a:ext cx="5486400" cy="3566160"/>
          </a:xfrm>
          <a:prstGeom prst="roundRect">
            <a:avLst>
              <a:gd name="adj" fmla="val 3077"/>
            </a:avLst>
          </a:prstGeom>
          <a:solidFill>
            <a:srgbClr val="F4EFE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0" y="16459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7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0" y="2011680"/>
            <a:ext cx="4983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3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and accuracy are unrelated. Fluent is not faithful.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3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citation is not verification. Verification means you open the source and read it.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3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Self-reported certainty is never a signal. The checker cannot be the thing being checked.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3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big batches, sample and estimate the error rate - never skim and trust.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0080" y="5349240"/>
            <a:ext cx="10972800" cy="1051560"/>
          </a:xfrm>
          <a:prstGeom prst="roundRect">
            <a:avLst>
              <a:gd name="adj" fmla="val 10435"/>
            </a:avLst>
          </a:prstGeom>
          <a:solidFill>
            <a:srgbClr val="1D242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14400" y="548640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E9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TRAP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2560320" y="548640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"Ask Claude to double-check its own answer." It feels diligent. It is the same model marking its own homework - the exam's favorite wrong answer.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685800" cy="685800"/>
          </a:xfrm>
          <a:prstGeom prst="ellipse">
            <a:avLst/>
          </a:prstGeom>
          <a:solidFill>
            <a:srgbClr val="EE9D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D2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45720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0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Evaluation - Part B: who signs it, how it ships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0607040" y="566928"/>
            <a:ext cx="960120" cy="457200"/>
          </a:xfrm>
          <a:prstGeom prst="roundRect">
            <a:avLst>
              <a:gd name="adj" fmla="val 20000"/>
            </a:avLst>
          </a:prstGeom>
          <a:solidFill>
            <a:srgbClr val="1D242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607040" y="566928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E9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21%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4630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7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MOVES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1874520"/>
            <a:ext cx="365760" cy="365760"/>
          </a:xfrm>
          <a:prstGeom prst="ellipse">
            <a:avLst/>
          </a:prstGeom>
          <a:solidFill>
            <a:srgbClr val="212A3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1801368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3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high stakes.  </a:t>
            </a:r>
            <a:pPr indent="0" marL="0">
              <a:buNone/>
            </a:pPr>
            <a:r>
              <a:rPr lang="en-US" sz="1250" dirty="0">
                <a:solidFill>
                  <a:srgbClr val="263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Rights, health, money, or livelihood - a qualified human reviews before anything acts. Legal, medical, insurance, finance, hiring, testing, media.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2715768"/>
            <a:ext cx="365760" cy="365760"/>
          </a:xfrm>
          <a:prstGeom prst="ellipse">
            <a:avLst/>
          </a:prstGeom>
          <a:solidFill>
            <a:srgbClr val="212A3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2715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2642616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3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Disclose.  </a:t>
            </a:r>
            <a:pPr indent="0" marL="0">
              <a:buNone/>
            </a:pPr>
            <a:r>
              <a:rPr lang="en-US" sz="1250" dirty="0">
                <a:solidFill>
                  <a:srgbClr val="263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are told they are dealing with AI output. Consumer-facing AI always discloses.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557016"/>
            <a:ext cx="365760" cy="365760"/>
          </a:xfrm>
          <a:prstGeom prst="ellipse">
            <a:avLst/>
          </a:prstGeom>
          <a:solidFill>
            <a:srgbClr val="212A3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" y="35570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3483864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3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the reader.  </a:t>
            </a:r>
            <a:pPr indent="0" marL="0">
              <a:buNone/>
            </a:pPr>
            <a:r>
              <a:rPr lang="en-US" sz="1250" dirty="0">
                <a:solidFill>
                  <a:srgbClr val="263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reader in one phrase, then shape it: executives get the point, practitioners get the steps, partners get prose.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4398264"/>
            <a:ext cx="365760" cy="365760"/>
          </a:xfrm>
          <a:prstGeom prst="ellipse">
            <a:avLst/>
          </a:prstGeom>
          <a:solidFill>
            <a:srgbClr val="212A3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0080" y="43982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" y="4325112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3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container.  </a:t>
            </a:r>
            <a:pPr indent="0" marL="0">
              <a:buNone/>
            </a:pPr>
            <a:r>
              <a:rPr lang="en-US" sz="1250" dirty="0">
                <a:solidFill>
                  <a:srgbClr val="263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work in a document. Data for systems in a fixed structure. One-off answers as plain prose.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126480" y="1463040"/>
            <a:ext cx="5486400" cy="3566160"/>
          </a:xfrm>
          <a:prstGeom prst="roundRect">
            <a:avLst>
              <a:gd name="adj" fmla="val 3077"/>
            </a:avLst>
          </a:prstGeom>
          <a:solidFill>
            <a:srgbClr val="F4EFE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0" y="16459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7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0" y="2011680"/>
            <a:ext cx="4983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3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strict format guarantees the shape, never the facts. Fields present, totals still wrong.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3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style leaks into output style - a bulleted prompt comes back as bullets.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3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nobody signed it, it didn't ship. Keep the approval where you can point at it.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3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Rejections and adverse decisions are where the human-review rule applies hardest.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0080" y="5349240"/>
            <a:ext cx="10972800" cy="1051560"/>
          </a:xfrm>
          <a:prstGeom prst="roundRect">
            <a:avLst>
              <a:gd name="adj" fmla="val 10435"/>
            </a:avLst>
          </a:prstGeom>
          <a:solidFill>
            <a:srgbClr val="1D242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14400" y="548640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E9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TRAP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2560320" y="548640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option where the model certifies its own high-stakes output, or the sign-off is skipped because "the reasoning looks clean." Presentation is not review.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685800" cy="685800"/>
          </a:xfrm>
          <a:prstGeom prst="ellipse">
            <a:avLst/>
          </a:prstGeom>
          <a:solidFill>
            <a:srgbClr val="EE9D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D2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45720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0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and Model Selection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0607040" y="566928"/>
            <a:ext cx="960120" cy="457200"/>
          </a:xfrm>
          <a:prstGeom prst="roundRect">
            <a:avLst>
              <a:gd name="adj" fmla="val 20000"/>
            </a:avLst>
          </a:prstGeom>
          <a:solidFill>
            <a:srgbClr val="1D242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607040" y="566928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E9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4630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7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MOVES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1874520"/>
            <a:ext cx="365760" cy="365760"/>
          </a:xfrm>
          <a:prstGeom prst="ellipse">
            <a:avLst/>
          </a:prstGeom>
          <a:solidFill>
            <a:srgbClr val="212A3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1801368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3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door by the verb.  </a:t>
            </a:r>
            <a:pPr indent="0" marL="0">
              <a:buNone/>
            </a:pPr>
            <a:r>
              <a:rPr lang="en-US" sz="1250" dirty="0">
                <a:solidFill>
                  <a:srgbClr val="263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= Research. Compute = code execution. Recurring = Projects. Reusable deliverable = Artifacts. Repeated procedure = Skills. Remember = Memory.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2715768"/>
            <a:ext cx="365760" cy="365760"/>
          </a:xfrm>
          <a:prstGeom prst="ellipse">
            <a:avLst/>
          </a:prstGeom>
          <a:solidFill>
            <a:srgbClr val="212A3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2715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2642616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3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the ladder.  </a:t>
            </a:r>
            <a:pPr indent="0" marL="0">
              <a:buNone/>
            </a:pPr>
            <a:r>
              <a:rPr lang="en-US" sz="1250" dirty="0">
                <a:solidFill>
                  <a:srgbClr val="263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Haiku for volume, Sonnet for balance, Opus and Fable for the deepest work. Capability up means cost up and speed down - nobody gets all three.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557016"/>
            <a:ext cx="365760" cy="365760"/>
          </a:xfrm>
          <a:prstGeom prst="ellipse">
            <a:avLst/>
          </a:prstGeom>
          <a:solidFill>
            <a:srgbClr val="212A3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" y="35570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3483864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3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before you switch.  </a:t>
            </a:r>
            <a:pPr indent="0" marL="0">
              <a:buNone/>
            </a:pPr>
            <a:r>
              <a:rPr lang="en-US" sz="1250" dirty="0">
                <a:solidFill>
                  <a:srgbClr val="263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info? Supply it. Still shallow? More thinking on the same model. Still short? Climb one tier.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4398264"/>
            <a:ext cx="365760" cy="365760"/>
          </a:xfrm>
          <a:prstGeom prst="ellipse">
            <a:avLst/>
          </a:prstGeom>
          <a:solidFill>
            <a:srgbClr val="212A3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0080" y="43982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" y="4325112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3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 the window.  </a:t>
            </a:r>
            <a:pPr indent="0" marL="0">
              <a:buNone/>
            </a:pPr>
            <a:r>
              <a:rPr lang="en-US" sz="1250" dirty="0">
                <a:solidFill>
                  <a:srgbClr val="263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is finite and quality sags as it fills; the middle gets missed. Prune, then compact, then restart with key state.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126480" y="1463040"/>
            <a:ext cx="5486400" cy="3566160"/>
          </a:xfrm>
          <a:prstGeom prst="roundRect">
            <a:avLst>
              <a:gd name="adj" fmla="val 3077"/>
            </a:avLst>
          </a:prstGeom>
          <a:solidFill>
            <a:srgbClr val="F4EFE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0" y="16459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7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0" y="2011680"/>
            <a:ext cx="4983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3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the rung to the task, measured on your own work - never chosen by habit, mood, or the open tab.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3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without new information changes nothing. Same input, same model, same answer.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3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features off does not reduce cost meaningfully - fitting the right tier does.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3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decisions, not transcripts. Smaller, focused context is better and cheaper.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0080" y="5349240"/>
            <a:ext cx="10972800" cy="1051560"/>
          </a:xfrm>
          <a:prstGeom prst="roundRect">
            <a:avLst>
              <a:gd name="adj" fmla="val 10435"/>
            </a:avLst>
          </a:prstGeom>
          <a:solidFill>
            <a:srgbClr val="1D242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14400" y="548640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E9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TRAP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2560320" y="548640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"Run it again." The reflex everyone has. Without new information or new settings, a retry is a lottery ticket, not a lever.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685800" cy="685800"/>
          </a:xfrm>
          <a:prstGeom prst="ellipse">
            <a:avLst/>
          </a:prstGeom>
          <a:solidFill>
            <a:srgbClr val="EE9D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D2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45720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0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Integration and Solution Design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0607040" y="566928"/>
            <a:ext cx="960120" cy="457200"/>
          </a:xfrm>
          <a:prstGeom prst="roundRect">
            <a:avLst>
              <a:gd name="adj" fmla="val 20000"/>
            </a:avLst>
          </a:prstGeom>
          <a:solidFill>
            <a:srgbClr val="1D242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607040" y="566928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E9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16%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4630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7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MOVES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1874520"/>
            <a:ext cx="365760" cy="365760"/>
          </a:xfrm>
          <a:prstGeom prst="ellipse">
            <a:avLst/>
          </a:prstGeom>
          <a:solidFill>
            <a:srgbClr val="212A3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1801368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3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where it pays.  </a:t>
            </a:r>
            <a:pPr indent="0" marL="0">
              <a:buNone/>
            </a:pPr>
            <a:r>
              <a:rPr lang="en-US" sz="1250" dirty="0">
                <a:solidFill>
                  <a:srgbClr val="263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the process, mark each step for time eaten and language work. High on both = your step. Rank by impact against effort.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2715768"/>
            <a:ext cx="365760" cy="365760"/>
          </a:xfrm>
          <a:prstGeom prst="ellipse">
            <a:avLst/>
          </a:prstGeom>
          <a:solidFill>
            <a:srgbClr val="212A3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2715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2642616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3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Simplest pattern first.  </a:t>
            </a:r>
            <a:pPr indent="0" marL="0">
              <a:buNone/>
            </a:pPr>
            <a:r>
              <a:rPr lang="en-US" sz="1250" dirty="0">
                <a:solidFill>
                  <a:srgbClr val="263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prompt, then chain, route, or parallelize. Fixed workflows are predictable; free-running agents are flexible and harder to control - reach for them last.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557016"/>
            <a:ext cx="365760" cy="365760"/>
          </a:xfrm>
          <a:prstGeom prst="ellipse">
            <a:avLst/>
          </a:prstGeom>
          <a:solidFill>
            <a:srgbClr val="212A3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" y="35570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3483864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3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 before redesign.  </a:t>
            </a:r>
            <a:pPr indent="0" marL="0">
              <a:buNone/>
            </a:pPr>
            <a:r>
              <a:rPr lang="en-US" sz="1250" dirty="0">
                <a:solidFill>
                  <a:srgbClr val="263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workflow works, wire Claude into the existing tools via connectors. Redesign only what is already broken.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4398264"/>
            <a:ext cx="365760" cy="365760"/>
          </a:xfrm>
          <a:prstGeom prst="ellipse">
            <a:avLst/>
          </a:prstGeom>
          <a:solidFill>
            <a:srgbClr val="212A3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0080" y="43982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" y="4325112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3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it honestly.  </a:t>
            </a:r>
            <a:pPr indent="0" marL="0">
              <a:buNone/>
            </a:pPr>
            <a:r>
              <a:rPr lang="en-US" sz="1250" dirty="0">
                <a:solidFill>
                  <a:srgbClr val="263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from your own pilot. State cost, failure modes, and which steps keep a human signature. Frame as capacity moved, not people replaced.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126480" y="1463040"/>
            <a:ext cx="5486400" cy="3566160"/>
          </a:xfrm>
          <a:prstGeom prst="roundRect">
            <a:avLst>
              <a:gd name="adj" fmla="val 3077"/>
            </a:avLst>
          </a:prstGeom>
          <a:solidFill>
            <a:srgbClr val="F4EFE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0" y="16459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7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0" y="2011680"/>
            <a:ext cx="4983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3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successful implementations start simple and add complexity only when the need is proven.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3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Claude with existing tools usually beats rebuilding the workflow from scratch.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3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easy items to the fast tier, hard ones up the ladder.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3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borrow a vendor's ROI numbers - measure your own.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0080" y="5349240"/>
            <a:ext cx="10972800" cy="1051560"/>
          </a:xfrm>
          <a:prstGeom prst="roundRect">
            <a:avLst>
              <a:gd name="adj" fmla="val 10435"/>
            </a:avLst>
          </a:prstGeom>
          <a:solidFill>
            <a:srgbClr val="1D242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14400" y="548640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E9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TRAP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2560320" y="548640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"Rebuild it end to end around an autonomous agent." It sounds like vision. It is complexity before evidence - and the exam knows it tempts you.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685800" cy="685800"/>
          </a:xfrm>
          <a:prstGeom prst="ellipse">
            <a:avLst/>
          </a:prstGeom>
          <a:solidFill>
            <a:srgbClr val="EE9D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D2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45720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0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 and Knowledge Management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0607040" y="566928"/>
            <a:ext cx="960120" cy="457200"/>
          </a:xfrm>
          <a:prstGeom prst="roundRect">
            <a:avLst>
              <a:gd name="adj" fmla="val 20000"/>
            </a:avLst>
          </a:prstGeom>
          <a:solidFill>
            <a:srgbClr val="1D242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607040" y="566928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E9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4630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7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MOVES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1874520"/>
            <a:ext cx="365760" cy="365760"/>
          </a:xfrm>
          <a:prstGeom prst="ellipse">
            <a:avLst/>
          </a:prstGeom>
          <a:solidFill>
            <a:srgbClr val="212A3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1801368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3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= instructions + knowledge.  </a:t>
            </a:r>
            <a:pPr indent="0" marL="0">
              <a:buNone/>
            </a:pPr>
            <a:r>
              <a:rPr lang="en-US" sz="1250" dirty="0">
                <a:solidFill>
                  <a:srgbClr val="263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quality of both determines the quality of every answer inside. Split projects by purpose - never one overloaded workspace.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2715768"/>
            <a:ext cx="365760" cy="365760"/>
          </a:xfrm>
          <a:prstGeom prst="ellipse">
            <a:avLst/>
          </a:prstGeom>
          <a:solidFill>
            <a:srgbClr val="212A3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2715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2642616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3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 the source.  </a:t>
            </a:r>
            <a:pPr indent="0" marL="0">
              <a:buNone/>
            </a:pPr>
            <a:r>
              <a:rPr lang="en-US" sz="1250" dirty="0">
                <a:solidFill>
                  <a:srgbClr val="263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Uploading files is not enough. Say: answer only from these materials, and say unknown for anything not in them.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557016"/>
            <a:ext cx="365760" cy="365760"/>
          </a:xfrm>
          <a:prstGeom prst="ellipse">
            <a:avLst/>
          </a:prstGeom>
          <a:solidFill>
            <a:srgbClr val="212A3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" y="35570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3483864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3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the instructions.  </a:t>
            </a:r>
            <a:pPr indent="0" marL="0">
              <a:buNone/>
            </a:pPr>
            <a:r>
              <a:rPr lang="en-US" sz="1250" dirty="0">
                <a:solidFill>
                  <a:srgbClr val="263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Role, constraints, and output format as separate tagged blocks. One long paragraph gets its middle ignored. State priority when rules can clash.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4398264"/>
            <a:ext cx="365760" cy="365760"/>
          </a:xfrm>
          <a:prstGeom prst="ellipse">
            <a:avLst/>
          </a:prstGeom>
          <a:solidFill>
            <a:srgbClr val="212A3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0080" y="43982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" y="4325112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3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it.  </a:t>
            </a:r>
            <a:pPr indent="0" marL="0">
              <a:buNone/>
            </a:pPr>
            <a:r>
              <a:rPr lang="en-US" sz="1250" dirty="0">
                <a:solidFill>
                  <a:srgbClr val="263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instructions, refresh stale files and sync sources, keep examples current, store settled decisions to memory - not chat history.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126480" y="1463040"/>
            <a:ext cx="5486400" cy="3566160"/>
          </a:xfrm>
          <a:prstGeom prst="roundRect">
            <a:avLst>
              <a:gd name="adj" fmla="val 3077"/>
            </a:avLst>
          </a:prstGeom>
          <a:solidFill>
            <a:srgbClr val="F4EFE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0" y="16459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7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0" y="2011680"/>
            <a:ext cx="4983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3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 every connector to the minimum scope. Connecting a whole drive and asking Claude to ignore the noise does not work.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3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uploads freeze at import; sync sources stay current - know which one each source is.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3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Contradictory materials in one project destabilize every answer it gives.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3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holds facts and preferences across sessions, never transcripts.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0080" y="5349240"/>
            <a:ext cx="10972800" cy="1051560"/>
          </a:xfrm>
          <a:prstGeom prst="roundRect">
            <a:avLst>
              <a:gd name="adj" fmla="val 10435"/>
            </a:avLst>
          </a:prstGeom>
          <a:solidFill>
            <a:srgbClr val="1D242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14400" y="548640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E9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TRAP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2560320" y="548640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giant project holding everything, a whole shared drive connected "to be safe," and instructions in a single paragraph. Each feels convenient. Each degrades accuracy.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685800" cy="685800"/>
          </a:xfrm>
          <a:prstGeom prst="ellipse">
            <a:avLst/>
          </a:prstGeom>
          <a:solidFill>
            <a:srgbClr val="EE9D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D2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45720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0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Governance, Risk, and Responsible Use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0607040" y="566928"/>
            <a:ext cx="960120" cy="457200"/>
          </a:xfrm>
          <a:prstGeom prst="roundRect">
            <a:avLst>
              <a:gd name="adj" fmla="val 20000"/>
            </a:avLst>
          </a:prstGeom>
          <a:solidFill>
            <a:srgbClr val="1D242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607040" y="566928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E9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4630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7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MOVES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1874520"/>
            <a:ext cx="365760" cy="365760"/>
          </a:xfrm>
          <a:prstGeom prst="ellipse">
            <a:avLst/>
          </a:prstGeom>
          <a:solidFill>
            <a:srgbClr val="212A3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1801368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3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the seven high-risk areas.  </a:t>
            </a:r>
            <a:pPr indent="0" marL="0">
              <a:buNone/>
            </a:pPr>
            <a:r>
              <a:rPr lang="en-US" sz="1250" dirty="0">
                <a:solidFill>
                  <a:srgbClr val="263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Legal, healthcare, insurance, finance, employment and housing, academic testing, media. Human-in-the-loop plus disclosure, always.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2715768"/>
            <a:ext cx="365760" cy="365760"/>
          </a:xfrm>
          <a:prstGeom prst="ellipse">
            <a:avLst/>
          </a:prstGeom>
          <a:solidFill>
            <a:srgbClr val="212A3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2715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2642616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3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fairness.  </a:t>
            </a:r>
            <a:pPr indent="0" marL="0">
              <a:buNone/>
            </a:pPr>
            <a:r>
              <a:rPr lang="en-US" sz="1250" dirty="0">
                <a:solidFill>
                  <a:srgbClr val="263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one side over-represented? Are opposing views dismissed? Is a group treated unfairly? Build the habit on every sensitive output.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557016"/>
            <a:ext cx="365760" cy="365760"/>
          </a:xfrm>
          <a:prstGeom prst="ellipse">
            <a:avLst/>
          </a:prstGeom>
          <a:solidFill>
            <a:srgbClr val="212A3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" y="35570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3483864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3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the data.  </a:t>
            </a:r>
            <a:pPr indent="0" marL="0">
              <a:buNone/>
            </a:pPr>
            <a:r>
              <a:rPr lang="en-US" sz="1250" dirty="0">
                <a:solidFill>
                  <a:srgbClr val="263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anonymized or explicitly authorized. Org policy decides what may enter any AI tool. Ambiguous cases escalate to compliance, not to a guess.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4398264"/>
            <a:ext cx="365760" cy="365760"/>
          </a:xfrm>
          <a:prstGeom prst="ellipse">
            <a:avLst/>
          </a:prstGeom>
          <a:solidFill>
            <a:srgbClr val="212A3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0080" y="43982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" y="4325112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3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Communicate limits.  </a:t>
            </a:r>
            <a:pPr indent="0" marL="0">
              <a:buNone/>
            </a:pPr>
            <a:r>
              <a:rPr lang="en-US" sz="1250" dirty="0">
                <a:solidFill>
                  <a:srgbClr val="263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with real numbers, limits said out loud: cost, failure modes, the standing need for human oversight.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126480" y="1463040"/>
            <a:ext cx="5486400" cy="3566160"/>
          </a:xfrm>
          <a:prstGeom prst="roundRect">
            <a:avLst>
              <a:gd name="adj" fmla="val 3077"/>
            </a:avLst>
          </a:prstGeom>
          <a:solidFill>
            <a:srgbClr val="F4EFE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0" y="16459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7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0" y="2011680"/>
            <a:ext cx="4983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3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high-risk work, Claude must never self-verify - a qualified professional signs.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3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Hiding AI involvement from consumers violates the usage policy. Disclose at the start.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3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Regulated domains have record-keeping duties - confirm outputs can be logged and retained.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3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answer that ignores company policy is wrong even when the technology in it is right.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0080" y="5349240"/>
            <a:ext cx="10972800" cy="1051560"/>
          </a:xfrm>
          <a:prstGeom prst="roundRect">
            <a:avLst>
              <a:gd name="adj" fmla="val 10435"/>
            </a:avLst>
          </a:prstGeom>
          <a:solidFill>
            <a:srgbClr val="1D242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14400" y="548640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E9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TRAP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2560320" y="548640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option that skips disclosure, skips the qualified reviewer, or treats "Claude is confident" as governance. Compliance beats clever, every time.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685800" cy="685800"/>
          </a:xfrm>
          <a:prstGeom prst="ellipse">
            <a:avLst/>
          </a:prstGeom>
          <a:solidFill>
            <a:srgbClr val="EE9D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D2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45720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0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Troubleshooting and Optimization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0607040" y="566928"/>
            <a:ext cx="960120" cy="457200"/>
          </a:xfrm>
          <a:prstGeom prst="roundRect">
            <a:avLst>
              <a:gd name="adj" fmla="val 20000"/>
            </a:avLst>
          </a:prstGeom>
          <a:solidFill>
            <a:srgbClr val="1D242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607040" y="566928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E9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4630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7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MOVES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1874520"/>
            <a:ext cx="365760" cy="365760"/>
          </a:xfrm>
          <a:prstGeom prst="ellipse">
            <a:avLst/>
          </a:prstGeom>
          <a:solidFill>
            <a:srgbClr val="212A3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1801368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3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in order.  </a:t>
            </a:r>
            <a:pPr indent="0" marL="0">
              <a:buNone/>
            </a:pPr>
            <a:r>
              <a:rPr lang="en-US" sz="1250" dirty="0">
                <a:solidFill>
                  <a:srgbClr val="263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Prompt unclear? Rewrite it. 2 Information missing? Supply it. 3 Reasoning shallow? More effort, then a higher tier. 4 Context stale? Prune, compact, or restart.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2715768"/>
            <a:ext cx="365760" cy="365760"/>
          </a:xfrm>
          <a:prstGeom prst="ellipse">
            <a:avLst/>
          </a:prstGeom>
          <a:solidFill>
            <a:srgbClr val="212A3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2715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2642616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3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levers by impact.  </a:t>
            </a:r>
            <a:pPr indent="0" marL="0">
              <a:buNone/>
            </a:pPr>
            <a:r>
              <a:rPr lang="en-US" sz="1250" dirty="0">
                <a:solidFill>
                  <a:srgbClr val="263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first, effort second, model third, context fourth, tools last.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557016"/>
            <a:ext cx="365760" cy="365760"/>
          </a:xfrm>
          <a:prstGeom prst="ellipse">
            <a:avLst/>
          </a:prstGeom>
          <a:solidFill>
            <a:srgbClr val="212A3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" y="35570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3483864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3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with criteria.  </a:t>
            </a:r>
            <a:pPr indent="0" marL="0">
              <a:buNone/>
            </a:pPr>
            <a:r>
              <a:rPr lang="en-US" sz="1250" dirty="0">
                <a:solidFill>
                  <a:srgbClr val="263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success up front and measure. Many rough automated checks beat a few perfect manual ones.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4398264"/>
            <a:ext cx="365760" cy="365760"/>
          </a:xfrm>
          <a:prstGeom prst="ellipse">
            <a:avLst/>
          </a:prstGeom>
          <a:solidFill>
            <a:srgbClr val="212A3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0080" y="43982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" y="4325112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3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cost by fit.  </a:t>
            </a:r>
            <a:pPr indent="0" marL="0">
              <a:buNone/>
            </a:pPr>
            <a:r>
              <a:rPr lang="en-US" sz="1250" dirty="0">
                <a:solidFill>
                  <a:srgbClr val="263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tier for the workload, focused context, features matched to the job - measure, adjust, remeasure.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126480" y="1463040"/>
            <a:ext cx="5486400" cy="3566160"/>
          </a:xfrm>
          <a:prstGeom prst="roundRect">
            <a:avLst>
              <a:gd name="adj" fmla="val 3077"/>
            </a:avLst>
          </a:prstGeom>
          <a:solidFill>
            <a:srgbClr val="F4EFE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0" y="16459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7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0" y="2011680"/>
            <a:ext cx="4983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3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first, fix second. Retrying without a diagnosis is the domain's named anti-pattern.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3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"Feels wrong" is not a finding - compare against written criteria.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3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Always-the-top-model wastes budget; features-off-to-save-money fixes nothing.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3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context does not mean better answers. Usually the opposite.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0080" y="5349240"/>
            <a:ext cx="10972800" cy="1051560"/>
          </a:xfrm>
          <a:prstGeom prst="roundRect">
            <a:avLst>
              <a:gd name="adj" fmla="val 10435"/>
            </a:avLst>
          </a:prstGeom>
          <a:solidFill>
            <a:srgbClr val="1D242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14400" y="548640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E9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TRAP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2560320" y="548640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Fixing the symptom you noticed instead of the cause you diagnosed - the exam describes a failure and offers four fixes, only one of which matches the actual root cause.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D24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anatomy - the five traps, exam-wide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212A3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58191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E9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SELF-CHECK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198424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BE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confirms or reviews its own answer. Feels diligent; the checker is the thing being checked.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434840" y="141732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212A3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663440" y="158191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E9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RETRY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4663440" y="198424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BE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 again with nothing new. Feels persistent; changes nothing.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29600" y="141732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212A3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458200" y="158191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E9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REBUILD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8458200" y="198424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BE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whole working process. Feels visionary; it is complexity before evidence.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52044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212A3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68680" y="368503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E9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NEGATIVE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40873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BE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"Do not do X" with no example of the wanted shape. Feels like an instruction; it is a hope.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434840" y="352044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212A3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663440" y="368503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E9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CLEVER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4663440" y="40873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BE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Technically smart, policy-blind. Feels efficient; compliance outranks clever.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229600" y="3520440"/>
            <a:ext cx="3291840" cy="1874520"/>
          </a:xfrm>
          <a:prstGeom prst="roundRect">
            <a:avLst>
              <a:gd name="adj" fmla="val 5854"/>
            </a:avLst>
          </a:prstGeom>
          <a:solidFill>
            <a:srgbClr val="EE9D4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458200" y="3703320"/>
            <a:ext cx="28346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trap is the option that feels the most responsible or the most impressive. When an answer flatters you, slow down.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5806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BE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practice question in the series ends on one of these. So does the real thing.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630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Eight rules that answer half the paper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502920" cy="502920"/>
          </a:xfrm>
          <a:prstGeom prst="ellipse">
            <a:avLst/>
          </a:prstGeom>
          <a:solidFill>
            <a:srgbClr val="EE9D4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D2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41732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3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is not accuracy.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355080" y="1417320"/>
            <a:ext cx="502920" cy="502920"/>
          </a:xfrm>
          <a:prstGeom prst="ellipse">
            <a:avLst/>
          </a:prstGeom>
          <a:solidFill>
            <a:srgbClr val="212A3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35508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040880" y="141732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3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citation is not verification - open the source.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2651760"/>
            <a:ext cx="502920" cy="502920"/>
          </a:xfrm>
          <a:prstGeom prst="ellipse">
            <a:avLst/>
          </a:prstGeom>
          <a:solidFill>
            <a:srgbClr val="EE9D4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D2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265176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3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stakes means a human signs.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355080" y="2651760"/>
            <a:ext cx="502920" cy="502920"/>
          </a:xfrm>
          <a:prstGeom prst="ellipse">
            <a:avLst/>
          </a:prstGeom>
          <a:solidFill>
            <a:srgbClr val="212A3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355080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7040880" y="265176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3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drafts and synthesizes. You decide.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0080" y="3886200"/>
            <a:ext cx="502920" cy="502920"/>
          </a:xfrm>
          <a:prstGeom prst="ellipse">
            <a:avLst/>
          </a:prstGeom>
          <a:solidFill>
            <a:srgbClr val="EE9D4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3886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D2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38862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3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Simplest thing first. Complexity must earn its place.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355080" y="3886200"/>
            <a:ext cx="502920" cy="502920"/>
          </a:xfrm>
          <a:prstGeom prst="ellipse">
            <a:avLst/>
          </a:prstGeom>
          <a:solidFill>
            <a:srgbClr val="212A3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355080" y="3886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7040880" y="38862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3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info, then effort, then escalate. Never a blind retry.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40080" y="5120640"/>
            <a:ext cx="502920" cy="502920"/>
          </a:xfrm>
          <a:prstGeom prst="ellipse">
            <a:avLst/>
          </a:prstGeom>
          <a:solidFill>
            <a:srgbClr val="EE9D4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0080" y="5120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D2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1325880" y="512064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3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policy outranks the clever answer.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355080" y="5120640"/>
            <a:ext cx="502920" cy="502920"/>
          </a:xfrm>
          <a:prstGeom prst="ellipse">
            <a:avLst/>
          </a:prstGeom>
          <a:solidFill>
            <a:srgbClr val="212A38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355080" y="5120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7040880" y="512064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3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 the source. Narrow the scope.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64008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two options survive elimination, the one that obeys more of these rules wins.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630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room - technique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48640" cy="548640"/>
          </a:xfrm>
          <a:prstGeom prst="ellipse">
            <a:avLst/>
          </a:prstGeom>
          <a:solidFill>
            <a:srgbClr val="EE9D4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D2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13716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30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Eliminate first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4480560" y="1298448"/>
            <a:ext cx="7132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63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of four options usually die on sight - the do-nothing and the do-everything. Kill them before you think hard.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450592"/>
            <a:ext cx="548640" cy="548640"/>
          </a:xfrm>
          <a:prstGeom prst="ellipse">
            <a:avLst/>
          </a:prstGeom>
          <a:solidFill>
            <a:srgbClr val="EE9D4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D2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245059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30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for stakes words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4480560" y="2377440"/>
            <a:ext cx="7132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63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Hiring, lending, diagnosis, applicants, patients - the moment a person's rights, health, money, or job is touched, the human-review answer is favored.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3529584"/>
            <a:ext cx="548640" cy="548640"/>
          </a:xfrm>
          <a:prstGeom prst="ellipse">
            <a:avLst/>
          </a:prstGeom>
          <a:solidFill>
            <a:srgbClr val="EE9D4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35295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D2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417320" y="3529584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30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for verbs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4480560" y="3456432"/>
            <a:ext cx="7132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63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Gather, compute, reuse, repeat, remember - task verbs point at the feature the question wants named.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4608576"/>
            <a:ext cx="548640" cy="548640"/>
          </a:xfrm>
          <a:prstGeom prst="ellipse">
            <a:avLst/>
          </a:prstGeom>
          <a:solidFill>
            <a:srgbClr val="EE9D4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46085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D2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4608576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30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apply a rule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4480560" y="4535424"/>
            <a:ext cx="7132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63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the two survivors, the golden rules decide. The trap is the one that feels responsible or impressive.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0080" y="5760720"/>
            <a:ext cx="10972800" cy="777240"/>
          </a:xfrm>
          <a:prstGeom prst="roundRect">
            <a:avLst>
              <a:gd name="adj" fmla="val 11765"/>
            </a:avLst>
          </a:prstGeom>
          <a:solidFill>
            <a:srgbClr val="F4EFE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14400" y="587044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7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Pace:  </a:t>
            </a:r>
            <a:pPr indent="0" marL="0">
              <a:buNone/>
            </a:pPr>
            <a:r>
              <a:rPr lang="en-US" sz="1400" dirty="0">
                <a:solidFill>
                  <a:srgbClr val="263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sixty questions in one hundred twenty minutes is two minutes each. Elimination buys you the time; flag and return rather than stall.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D24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night before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12A38"/>
          </a:solidFill>
          <a:ln w="19050">
            <a:solidFill>
              <a:srgbClr val="EE9D4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234440" y="155448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BE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the blueprint - know where the marks are (Domains 2, 4, 6 are the heavy rows).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12A38"/>
          </a:solidFill>
          <a:ln w="19050">
            <a:solidFill>
              <a:srgbClr val="EE9D4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34440" y="233172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BE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Reread the five traps and the eight rules. They are the exam's skeleton.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315468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12A38"/>
          </a:solidFill>
          <a:ln w="19050">
            <a:solidFill>
              <a:srgbClr val="EE9D4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234440" y="310896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BE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the current format on the official certification page - details can change.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39319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12A38"/>
          </a:solidFill>
          <a:ln w="19050">
            <a:solidFill>
              <a:srgbClr val="EE9D4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234440" y="388620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BE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one real work prompt with a role, tagged sections, and one example. Ten minutes of practice beats an hour of reading.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0080" y="470916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12A38"/>
          </a:solidFill>
          <a:ln w="19050">
            <a:solidFill>
              <a:srgbClr val="EE9D4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234440" y="466344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BE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Sleep. Judgment is the thing being tested, and judgment needs rest.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8229600" y="50292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E9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luck. You saw every trap coming.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6263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CorporateChittyChat - CCAO-F Exam Prep playlist. Independent study material based on the official exam guide. Not affiliated with or endorsed by Anthropic.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2026-09-02T15:11:13Z</dcterms:created>
  <dcterms:modified xsi:type="dcterms:W3CDTF">2026-09-02T15:11:13Z</dcterms:modified>
</cp:coreProperties>
</file>